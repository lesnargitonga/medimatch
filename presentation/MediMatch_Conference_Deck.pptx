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rcRect t="4999" b="49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594360"/>
            <a:ext cx="7498079" cy="5212080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9144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MEDIMATCH  ·  NATIONAL REDISTRIBUTION 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1353312"/>
            <a:ext cx="69951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8F3E7"/>
                </a:solidFill>
                <a:latin typeface="Noto Sans"/>
              </a:rPr>
              <a:t>See surplus.
Detect need.
</a:t>
            </a:r>
            <a:r>
              <a:rPr sz="3800" b="1">
                <a:solidFill>
                  <a:srgbClr val="43D5AE"/>
                </a:solidFill>
                <a:latin typeface="Noto Sans"/>
              </a:rPr>
              <a:t>Coordinate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7307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EBACC"/>
                </a:solidFill>
                <a:latin typeface="Noto Sans"/>
              </a:rPr>
              <a:t>Leveraging geospatial intelligence
for equitable medical-supply redistribution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4736592"/>
            <a:ext cx="5212080" cy="2743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65192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Lesnar Gitonga  ·  USIU–Africa  ·  23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34924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Conference demo · synthetic inventory · no patient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01  /  THE COORDINATION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8F3E7"/>
                </a:solidFill>
                <a:latin typeface="Noto Sans"/>
              </a:rPr>
              <a:t>The problem is not only scarcity.
It is disconnected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EBACC"/>
                </a:solidFill>
                <a:latin typeface="Noto Sans"/>
              </a:rPr>
              <a:t>Facilities can hold usable surplus while others face urgent shortfalls. MediMatch makes both sides visible in one operating picture.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7744"/>
                </a:solidFill>
                <a:latin typeface="Noto Sans"/>
              </a:rPr>
              <a:t>56.3%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face weekly or monthly stockouts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6BE4C"/>
                </a:solidFill>
                <a:latin typeface="Noto Sans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rate manual methods ineffective or slow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6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5B66"/>
                </a:solidFill>
                <a:latin typeface="Noto Sans"/>
              </a:rPr>
              <a:t>57.8%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report wastage of valid supplies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2057400"/>
            <a:ext cx="2606040" cy="10058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167128"/>
            <a:ext cx="227685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43D5AE"/>
                </a:solidFill>
                <a:latin typeface="Noto Sans"/>
              </a:rPr>
              <a:t>89.1%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79192"/>
            <a:ext cx="22768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willing to pilot the system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3401568"/>
            <a:ext cx="10972800" cy="205740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4846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8F3E7"/>
                </a:solidFill>
                <a:latin typeface="Noto Sans"/>
              </a:rPr>
              <a:t>A supply gap becomes
a coordination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07408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EBACC"/>
                </a:solidFill>
                <a:latin typeface="Noto Sans"/>
              </a:rPr>
              <a:t>Which available source is close enough, sufficiently stocked, verified, product-compatible—and practical to move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730752"/>
            <a:ext cx="36576" cy="1234440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675887"/>
            <a:ext cx="1508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6BE4C"/>
                </a:solidFill>
                <a:latin typeface="Noto Sans"/>
              </a:rPr>
              <a:t>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EBACC"/>
                </a:solidFill>
                <a:latin typeface="Noto Sans"/>
              </a:rPr>
              <a:t>KEMSA national order-fill rate,
as of mid-2025 (per the abstract)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4515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The baseline is historical; the deck does not present it as the current 2026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Sources: MediMatch Nairobi County field study (n=64 healthcare professionals, 80% response, 2025); KEMSA order-fill rate 57%, mid-2025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02  /  THE FIELD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3E7"/>
                </a:solidFill>
                <a:latin typeface="Noto Sans"/>
              </a:rPr>
              <a:t>We asked the people who run the supply 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0700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6BE4C"/>
                </a:solidFill>
                <a:latin typeface="Noto Sans"/>
              </a:rPr>
              <a:t>64 healthcare professionals across Nairobi County   ·   80% response rate   ·   2025 field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10972800" cy="8229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" y="1783080"/>
            <a:ext cx="73152" cy="822960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20240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7744"/>
                </a:solidFill>
                <a:latin typeface="Noto Sans"/>
              </a:rPr>
              <a:t>56.3%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83080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8F3E7"/>
                </a:solidFill>
                <a:latin typeface="Noto Sans"/>
              </a:rPr>
              <a:t>experience stockouts of essential items on a weekly or monthly basis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715768"/>
            <a:ext cx="10972800" cy="8229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715768"/>
            <a:ext cx="73152" cy="822960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852927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6BE4C"/>
                </a:solidFill>
                <a:latin typeface="Noto Sans"/>
              </a:rPr>
              <a:t>82.8%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157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8F3E7"/>
                </a:solidFill>
                <a:latin typeface="Noto Sans"/>
              </a:rPr>
              <a:t>rate current manual, ad-hoc redistribution as “ineffective” or “slow”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648456"/>
            <a:ext cx="10972800" cy="8229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3648456"/>
            <a:ext cx="73152" cy="822960"/>
          </a:xfrm>
          <a:prstGeom prst="rect">
            <a:avLst/>
          </a:prstGeom>
          <a:solidFill>
            <a:srgbClr val="FF5B66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785616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5B66"/>
                </a:solidFill>
                <a:latin typeface="Noto Sans"/>
              </a:rPr>
              <a:t>57.8%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648456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8F3E7"/>
                </a:solidFill>
                <a:latin typeface="Noto Sans"/>
              </a:rPr>
              <a:t>identify the wastage of valid medical supplies as a primary operational challenge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4581144"/>
            <a:ext cx="10972800" cy="8229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" y="4581144"/>
            <a:ext cx="73152" cy="822960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718304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3D5AE"/>
                </a:solidFill>
                <a:latin typeface="Noto Sans"/>
              </a:rPr>
              <a:t>89.1%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81144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8F3E7"/>
                </a:solidFill>
                <a:latin typeface="Noto Sans"/>
              </a:rPr>
              <a:t>are willing to pilot the MediMatch 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5550408"/>
            <a:ext cx="10972800" cy="548640"/>
          </a:xfrm>
          <a:prstGeom prst="roundRect">
            <a:avLst/>
          </a:prstGeom>
          <a:solidFill>
            <a:srgbClr val="1A263B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EBACC"/>
                </a:solidFill>
                <a:latin typeface="Noto Sans"/>
              </a:rPr>
              <a:t>Respondents span clinical staff (nurses &amp; pharmacists), facility administrators, and pharmacy/inventory &amp; technical personnel — a predominantly young, digitally-literate workforce.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MediMatch Nairobi County field study · 64 healthcare professionals · 80% response rate (2025) · figures per the published GPH2026 abstract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03  /  NATIONAL COMMAND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From isolated reports to one national operating picture</a:t>
            </a:r>
          </a:p>
        </p:txBody>
      </p:sp>
      <p:pic>
        <p:nvPicPr>
          <p:cNvPr id="5" name="Picture 4" descr="demand-signal.png"/>
          <p:cNvPicPr>
            <a:picLocks noChangeAspect="1"/>
          </p:cNvPicPr>
          <p:nvPr/>
        </p:nvPicPr>
        <p:blipFill>
          <a:blip r:embed="rId2"/>
          <a:srcRect t="15004" b="15004"/>
          <a:stretch>
            <a:fillRect/>
          </a:stretch>
        </p:blipFill>
        <p:spPr>
          <a:xfrm>
            <a:off x="502920" y="1325880"/>
            <a:ext cx="11183112" cy="48920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" y="5276088"/>
            <a:ext cx="10927080" cy="71323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477256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744"/>
                </a:solidFill>
                <a:latin typeface="Noto Sans"/>
              </a:rPr>
              <a:t>DETECT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F6BE4C"/>
                </a:solidFill>
                <a:latin typeface="Noto Sans"/>
              </a:rPr>
              <a:t>RANK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43D5AE"/>
                </a:solidFill>
                <a:latin typeface="Noto Sans"/>
              </a:rPr>
              <a:t>ROUTE</a:t>
            </a:r>
            <a:r>
              <a:rPr sz="1100" b="1">
                <a:solidFill>
                  <a:srgbClr val="AEBACC"/>
                </a:solidFill>
                <a:latin typeface="Noto Sans"/>
              </a:rPr>
              <a:t>  →  </a:t>
            </a:r>
            <a:r>
              <a:rPr sz="1100" b="1">
                <a:solidFill>
                  <a:srgbClr val="F8F3E7"/>
                </a:solidFill>
                <a:latin typeface="Noto Sans"/>
              </a:rPr>
              <a:t>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440680"/>
            <a:ext cx="53035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Real Kenyan facility geocodes · road-routed flows · live operational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Current app: Savannah Command · MapLibre + CARTO + OSRM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04  /  GEOSPATIAL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8F3E7"/>
                </a:solidFill>
                <a:latin typeface="Noto Sans"/>
              </a:rPr>
              <a:t>See demand concentration before routing</a:t>
            </a:r>
          </a:p>
        </p:txBody>
      </p:sp>
      <p:pic>
        <p:nvPicPr>
          <p:cNvPr id="5" name="Picture 4" descr="heatmap.png"/>
          <p:cNvPicPr>
            <a:picLocks noChangeAspect="1"/>
          </p:cNvPicPr>
          <p:nvPr/>
        </p:nvPicPr>
        <p:blipFill>
          <a:blip r:embed="rId2"/>
          <a:srcRect l="3378" r="3378"/>
          <a:stretch>
            <a:fillRect/>
          </a:stretch>
        </p:blipFill>
        <p:spPr>
          <a:xfrm>
            <a:off x="4114800" y="1325880"/>
            <a:ext cx="7571231" cy="5074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246120" cy="4681728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19072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What geography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86000"/>
            <a:ext cx="2761488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Reveal where shortfall clusters—not just where the loudest request originated.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Compare demand against available hubs and connected road corridors.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Use distance as one signal alongside urgency, product fit and verification.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AEBACC"/>
                </a:solidFill>
                <a:latin typeface="Noto Sans"/>
              </a:defRPr>
            </a:pPr>
            <a:r>
              <a:t>•  Move from ‘nearest’ to ‘best feasible match’.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440680"/>
            <a:ext cx="26700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Geography supports triage; it does not authorize a transfer.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Demand heatmap shown from the live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05  /  RESEARCH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Nairobi turns the national concept into a street-scale workflow</a:t>
            </a:r>
          </a:p>
        </p:txBody>
      </p:sp>
      <p:pic>
        <p:nvPicPr>
          <p:cNvPr id="5" name="Picture 4" descr="nairobi-research.png"/>
          <p:cNvPicPr>
            <a:picLocks noChangeAspect="1"/>
          </p:cNvPicPr>
          <p:nvPr/>
        </p:nvPicPr>
        <p:blipFill>
          <a:blip r:embed="rId2"/>
          <a:srcRect t="13238" b="13238"/>
          <a:stretch>
            <a:fillRect/>
          </a:stretch>
        </p:blipFill>
        <p:spPr>
          <a:xfrm>
            <a:off x="502920" y="1307592"/>
            <a:ext cx="11183112" cy="5138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" y="5687568"/>
            <a:ext cx="10789920" cy="53035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824728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50 facilities  ·  43 in shortfall  ·  43 transfers  ·  2,236 units 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Nairobi County research view · demonstration inventory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06  /  EXPLAINABLE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The system shows why a source was selected</a:t>
            </a:r>
          </a:p>
        </p:txBody>
      </p:sp>
      <p:pic>
        <p:nvPicPr>
          <p:cNvPr id="5" name="Picture 4" descr="selected-route.png"/>
          <p:cNvPicPr>
            <a:picLocks noChangeAspect="1"/>
          </p:cNvPicPr>
          <p:nvPr/>
        </p:nvPicPr>
        <p:blipFill>
          <a:blip r:embed="rId2"/>
          <a:srcRect l="5310" r="5310"/>
          <a:stretch>
            <a:fillRect/>
          </a:stretch>
        </p:blipFill>
        <p:spPr>
          <a:xfrm>
            <a:off x="4297680" y="1307592"/>
            <a:ext cx="7388352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401568" cy="466344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2834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Decision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67712"/>
            <a:ext cx="82296" cy="329184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249424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Proximity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249424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direct and routed distance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52928"/>
            <a:ext cx="82296" cy="329184"/>
          </a:xfrm>
          <a:prstGeom prst="rect">
            <a:avLst/>
          </a:prstGeom>
          <a:solidFill>
            <a:srgbClr val="FF5B66"/>
          </a:solidFill>
          <a:ln>
            <a:solidFill>
              <a:srgbClr val="FF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834640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Urgency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83464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clinical supply priority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38144"/>
            <a:ext cx="82296" cy="329184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41985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Product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1985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category and cold-chain needs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23360"/>
            <a:ext cx="82296" cy="329184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05072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Quantity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00507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full or partial coverage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608576"/>
            <a:ext cx="82296" cy="329184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0288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3E7"/>
                </a:solidFill>
                <a:latin typeface="Noto Sans"/>
              </a:rPr>
              <a:t>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59028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EBACC"/>
                </a:solidFill>
                <a:latin typeface="Noto Sans"/>
              </a:rPr>
              <a:t>trusted source and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6BE4C"/>
                </a:solidFill>
                <a:latin typeface="Noto Sans"/>
              </a:rPr>
              <a:t>Curated situation briefs explain the route in plain operational language.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Briefs use a deterministic fallback for demo reliability; Claude is optional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07  /  IMPACT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What the current throughput could unlock over one year</a:t>
            </a:r>
          </a:p>
        </p:txBody>
      </p:sp>
      <p:pic>
        <p:nvPicPr>
          <p:cNvPr id="5" name="Picture 4" descr="impact-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182" y="1261872"/>
            <a:ext cx="8368588" cy="52303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989320"/>
            <a:ext cx="10908792" cy="347472"/>
          </a:xfrm>
          <a:prstGeom prst="round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80760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6BE4C"/>
                </a:solidFill>
                <a:latin typeface="Noto Sans"/>
              </a:rPr>
              <a:t>MODEL — NOT A GUARANTEE. Weekly cycles, 42% near-expiry recovery, coverage saturates as facilities onboard.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Projection baseline: KEMSA 57% order-fill rate (mid-2025) + MediMatch field study (n=64)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08  /  LIVE COORDINATION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3E7"/>
                </a:solidFill>
                <a:latin typeface="Noto Sans"/>
              </a:rPr>
              <a:t>Copilot answers from the current operational state</a:t>
            </a:r>
          </a:p>
        </p:txBody>
      </p:sp>
      <p:pic>
        <p:nvPicPr>
          <p:cNvPr id="5" name="Picture 4" descr="copilot.png"/>
          <p:cNvPicPr>
            <a:picLocks noChangeAspect="1"/>
          </p:cNvPicPr>
          <p:nvPr/>
        </p:nvPicPr>
        <p:blipFill>
          <a:blip r:embed="rId2"/>
          <a:srcRect l="7295" r="7295"/>
          <a:stretch>
            <a:fillRect/>
          </a:stretch>
        </p:blipFill>
        <p:spPr>
          <a:xfrm>
            <a:off x="4663440" y="1307592"/>
            <a:ext cx="7022592" cy="5138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0352" y="1417320"/>
            <a:ext cx="3767328" cy="4681728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3E7"/>
                </a:solidFill>
                <a:latin typeface="Noto Sans"/>
              </a:rPr>
              <a:t>Ask operational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3108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→  Which facilities need urgent approval?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→  What is in transit right now?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→  Where are the shortfalls in Mandera?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→  Who has surplus oxygen?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500">
                <a:solidFill>
                  <a:srgbClr val="F8F3E7"/>
                </a:solidFill>
                <a:latin typeface="Noto Sans"/>
              </a:defRPr>
            </a:pPr>
            <a:r>
              <a:t>→  Summarise the national situation.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10912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EBACC"/>
                </a:solidFill>
                <a:latin typeface="Noto Sans"/>
              </a:rPr>
              <a:t>Presentation-safe mode is grounded in live plan data and works without an API key. An Anthropic key can enable Claude-written briefs.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Copilot is advisory; coordinator verification remains mandatory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09  /  ARCHITECTURE AND SAFEGUARDS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A production-minded spatial stack
with a human decision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514600" cy="73152"/>
          </a:xfrm>
          <a:prstGeom prst="rect">
            <a:avLst/>
          </a:prstGeom>
          <a:solidFill>
            <a:srgbClr val="529BFF"/>
          </a:solidFill>
          <a:ln>
            <a:solidFill>
              <a:srgbClr val="52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React · TypeScript
MapLibre · three.js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9816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568" y="1828800"/>
            <a:ext cx="2514600" cy="73152"/>
          </a:xfrm>
          <a:prstGeom prst="rect">
            <a:avLst/>
          </a:prstGeom>
          <a:solidFill>
            <a:srgbClr val="FF7744"/>
          </a:solidFill>
          <a:ln>
            <a:solidFill>
              <a:srgbClr val="FF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Coordination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Node.js · Express
matching · auth · 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52744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1828800"/>
            <a:ext cx="2514600" cy="73152"/>
          </a:xfrm>
          <a:prstGeom prst="rect">
            <a:avLst/>
          </a:prstGeom>
          <a:solidFill>
            <a:srgbClr val="43D5AE"/>
          </a:solidFill>
          <a:ln>
            <a:solidFill>
              <a:srgbClr val="43D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Spatial + routing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PostgreSQL · PostGIS
OSRM · Nominatim · CARTO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5672" y="25146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6BE4C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1828800"/>
            <a:ext cx="2514600" cy="196596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07424" y="1828800"/>
            <a:ext cx="2514600" cy="73152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17627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8F3E7"/>
                </a:solidFill>
                <a:latin typeface="Noto Sans"/>
              </a:rPr>
              <a:t>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724912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Curated fallback
optional Claude briefs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11064240" cy="1280160"/>
          </a:xfrm>
          <a:prstGeom prst="roundRect">
            <a:avLst/>
          </a:prstGeom>
          <a:solidFill>
            <a:srgbClr val="121D31"/>
          </a:solidFill>
          <a:ln>
            <a:solidFill>
              <a:srgbClr val="1A26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8F3E7"/>
                </a:solidFill>
                <a:latin typeface="Noto Sans"/>
              </a:rPr>
              <a:t>Human verification is the final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AEBACC"/>
                </a:solidFill>
                <a:latin typeface="Noto Sans"/>
              </a:rPr>
              <a:t>No diagnosis · no autonomous transfers · synthetic demo inventory · explicit assumptions · coordinator sign-off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75504"/>
            <a:ext cx="10332720" cy="36576"/>
          </a:xfrm>
          <a:prstGeom prst="rect">
            <a:avLst/>
          </a:prstGeom>
          <a:solidFill>
            <a:srgbClr val="F6BE4C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Production data layer: PostgreSQL 15 + PostGIS 3 · demo mode: in-memory mock DB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C18"/>
          </a:solidFill>
          <a:ln>
            <a:solidFill>
              <a:srgbClr val="070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6BE4C"/>
                </a:solidFill>
                <a:latin typeface="Noto Sans"/>
              </a:rPr>
              <a:t>10  / 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7315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00" b="1">
                <a:solidFill>
                  <a:srgbClr val="F8F3E7"/>
                </a:solidFill>
                <a:latin typeface="Noto Sans"/>
              </a:rPr>
              <a:t>Location is not just a field.
</a:t>
            </a:r>
            <a:r>
              <a:rPr sz="3500" b="1">
                <a:solidFill>
                  <a:srgbClr val="43D5AE"/>
                </a:solidFill>
                <a:latin typeface="Noto Sans"/>
              </a:rPr>
              <a:t>It is a coordination advantage.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743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6BE4C"/>
                </a:solidFill>
                <a:latin typeface="Noto Sans"/>
              </a:rPr>
              <a:t>The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24612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  <a:defRPr sz="1600">
                <a:solidFill>
                  <a:srgbClr val="F8F3E7"/>
                </a:solidFill>
                <a:latin typeface="Noto Sans"/>
              </a:defRPr>
            </a:pPr>
            <a:r>
              <a:t>  01   Globe intro → Kenya command floor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>
                <a:solidFill>
                  <a:srgbClr val="F8F3E7"/>
                </a:solidFill>
                <a:latin typeface="Noto Sans"/>
              </a:defRPr>
            </a:pPr>
            <a:r>
              <a:t>  02   Toggle the demand heatmap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>
                <a:solidFill>
                  <a:srgbClr val="F8F3E7"/>
                </a:solidFill>
                <a:latin typeface="Noto Sans"/>
              </a:defRPr>
            </a:pPr>
            <a:r>
              <a:t>  03   Open the Nairobi research base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>
                <a:solidFill>
                  <a:srgbClr val="F8F3E7"/>
                </a:solidFill>
                <a:latin typeface="Noto Sans"/>
              </a:defRPr>
            </a:pPr>
            <a:r>
              <a:t>  04   Project impact over one year</a:t>
            </a:r>
          </a:p>
          <a:p>
            <a:pPr>
              <a:lnSpc>
                <a:spcPct val="108000"/>
              </a:lnSpc>
              <a:spcAft>
                <a:spcPts val="900"/>
              </a:spcAft>
              <a:defRPr sz="1600">
                <a:solidFill>
                  <a:srgbClr val="F8F3E7"/>
                </a:solidFill>
                <a:latin typeface="Noto Sans"/>
              </a:defRPr>
            </a:pPr>
            <a:r>
              <a:t>  05   Ask Copilot for urgent approvals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514600"/>
            <a:ext cx="4983480" cy="2743200"/>
          </a:xfrm>
          <a:prstGeom prst="roundRect">
            <a:avLst/>
          </a:prstGeom>
          <a:solidFill>
            <a:srgbClr val="121D31"/>
          </a:solidFill>
          <a:ln>
            <a:solidFill>
              <a:srgbClr val="F6B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9443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>
                <a:solidFill>
                  <a:srgbClr val="F8F3E7"/>
                </a:solidFill>
                <a:latin typeface="Noto Sans"/>
              </a:rPr>
              <a:t>MEDIMATCH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61188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6BE4C"/>
                </a:solidFill>
                <a:latin typeface="Noto Sans"/>
              </a:rPr>
              <a:t>See surplus. Detect need.
Coordinate impact.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AEBACC"/>
                </a:solidFill>
                <a:latin typeface="Noto Sans"/>
              </a:rPr>
              <a:t>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AEBACC"/>
                </a:solidFill>
                <a:latin typeface="Noto Sans"/>
              </a:rPr>
              <a:t>MEDIMATCH  / 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6473952"/>
            <a:ext cx="9281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AEBACC"/>
                </a:solidFill>
                <a:latin typeface="Noto Sans"/>
              </a:rPr>
              <a:t>Live build: main@d7be7d4 · /home/lesnar/publish-stage/MediMatch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MediMatch — Geospatial Intelligence for Medical-Supply Redistribution</dc:title>
  <dc:subject>Conference presentation</dc:subject>
  <dc:creator>Lesnar Gitonga</dc:creator>
  <cp:keywords>MediMatch, geospatial, PostGIS, public health, Kenya, medical supplies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