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594360"/>
            <a:ext cx="7498079" cy="5212080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914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lang="en-US" noProof="1" dirty="0" err="0">
                <a:solidFill>
                  <a:srgbClr val="F6BE4C"/>
                </a:solidFill>
                <a:latin typeface="Noto Sans"/>
              </a:rPr>
              <a:t>MEDIMATCH  ·  NATIONAL REDISTRIBUTION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353312"/>
            <a:ext cx="69951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lang="en-US" noProof="1" dirty="0" err="0">
                <a:solidFill>
                  <a:srgbClr val="F8F3E7"/>
                </a:solidFill>
                <a:latin typeface="Noto Sans"/>
              </a:rPr>
              <a:t>See surplus.
Detect need.
</a:t>
            </a:r>
            <a:r>
              <a:rPr sz="3800" b="1" lang="en-US" noProof="1" dirty="0" err="0">
                <a:solidFill>
                  <a:srgbClr val="43D5AE"/>
                </a:solidFill>
                <a:latin typeface="Noto Sans"/>
              </a:rPr>
              <a:t>Coordinate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7307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Leveraging geospatial intelligence
for equitable medical-supply redistribution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4736592"/>
            <a:ext cx="5212080" cy="2743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651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lang="en-US" noProof="1" dirty="0" err="0">
                <a:solidFill>
                  <a:srgbClr val="F8F3E7"/>
                </a:solidFill>
                <a:latin typeface="Noto Sans"/>
              </a:rPr>
              <a:t>Lesnar Gitonga  ·  USIU–Africa  ·  23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4924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Conference demo · synthetic inventory · no patient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01  /  THE COORDINATION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lang="en-US" noProof="1" dirty="0" err="0">
                <a:solidFill>
                  <a:srgbClr val="F8F3E7"/>
                </a:solidFill>
                <a:latin typeface="Noto Sans"/>
              </a:rPr>
              <a:t>The problem is not only scarcity.
It is disconnected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Facilities can hold usable surplus while others face urgent shortfalls. MediMatch makes both sides visible in one operating picture.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F7744"/>
                </a:solidFill>
                <a:latin typeface="Noto Sans"/>
              </a:rPr>
              <a:t>56.3%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face weekly or monthly stockouts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6BE4C"/>
                </a:solidFill>
                <a:latin typeface="Noto Sans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rate manual methods ineffective or slow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FF5B66"/>
                </a:solidFill>
                <a:latin typeface="Noto Sans"/>
              </a:rPr>
              <a:t>57.8%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report wastage of valid supplies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lang="en-US" noProof="1" dirty="0" err="0">
                <a:solidFill>
                  <a:srgbClr val="43D5AE"/>
                </a:solidFill>
                <a:latin typeface="Noto Sans"/>
              </a:rPr>
              <a:t>89.1%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willing to pilot the 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3401568"/>
            <a:ext cx="10972800" cy="205740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4846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lang="en-US" noProof="1" dirty="0" err="0">
                <a:solidFill>
                  <a:srgbClr val="F8F3E7"/>
                </a:solidFill>
                <a:latin typeface="Noto Sans"/>
              </a:rPr>
              <a:t>A supply gap becomes
a coordination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07408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Which available source is close enough, sufficiently stocked, verified, product-compatible—and practical to move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730752"/>
            <a:ext cx="36576" cy="1234440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675887"/>
            <a:ext cx="1508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lang="en-US" noProof="1" dirty="0" err="0">
                <a:solidFill>
                  <a:srgbClr val="F6BE4C"/>
                </a:solidFill>
                <a:latin typeface="Noto Sans"/>
              </a:rPr>
              <a:t>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KEMSA national order-fill rate,
as of mid-2025 (per the abstract)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4515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lang="en-US" noProof="1" dirty="0" err="0">
                <a:solidFill>
                  <a:srgbClr val="AEBACC"/>
                </a:solidFill>
                <a:latin typeface="Noto Sans"/>
              </a:rPr>
              <a:t>The baseline is historical; the deck does not present it as the current 2026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Sources: MediMatch Nairobi County field study (n=64 healthcare professionals, 80% response, 2025); KEMSA order-fill rate 57%, mid-2025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02  /  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Who we surveyed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64 healthcare professionals  ·  Nairobi County  ·  80% response rate  ·  unedited Google Forms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A frontline sample — the clinicians and staff who manage stock every 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1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7744"/>
                </a:solidFill>
                <a:latin typeface="Noto Sans"/>
              </a:rPr>
              <a:t>Q1 · Gender — slight female majority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2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43D5AE"/>
                </a:solidFill>
                <a:latin typeface="Noto Sans"/>
              </a:rPr>
              <a:t>Q2 · Age — majority under 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3_r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529BFF"/>
                </a:solidFill>
                <a:latin typeface="Noto Sans"/>
              </a:rPr>
              <a:t>Q3 · Role — clinical staff majority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Nairobi County field study · n=64 ·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03  /  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The current system, in their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Questions 4–6  ·  frequency of stockouts, how surplus is handled, and how they rate today’s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Frequent stockouts, ad-hoc handling, and locating methods they rate as ineffective or slow.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4_stock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02678"/>
            <a:ext cx="3413760" cy="14357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7744"/>
                </a:solidFill>
                <a:latin typeface="Noto Sans"/>
              </a:rPr>
              <a:t>Q4 · 56.3% weekly or monthly stockouts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5_sur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8967" y="2402678"/>
            <a:ext cx="3413760" cy="14357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6BE4C"/>
                </a:solidFill>
                <a:latin typeface="Noto Sans"/>
              </a:rPr>
              <a:t>Q5 · Surplus handled ad-hoc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6_effective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8073" y="2377440"/>
            <a:ext cx="3277468" cy="148621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5B66"/>
                </a:solidFill>
                <a:latin typeface="Noto Sans"/>
              </a:rPr>
              <a:t>Q6 · 82.8% ineffective or slow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Q4 and Q6 are the abstract’s 56.3% and 82.8%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04  /  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lang="en-US" noProof="1" dirty="0" err="0">
                <a:solidFill>
                  <a:srgbClr val="F8F3E7"/>
                </a:solidFill>
                <a:latin typeface="Noto Sans"/>
              </a:rPr>
              <a:t>Challenges, value &amp;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6BE4C"/>
                </a:solidFill>
                <a:latin typeface="Noto Sans"/>
              </a:rPr>
              <a:t>Questions 7–9  ·  the main system challenges, the benefits they value, and willingness to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Wastage tops the operational challenges — and readiness to pilot MediMatch is high.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7_challe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69" y="2377440"/>
            <a:ext cx="3123235" cy="14862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656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971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FF5B66"/>
                </a:solidFill>
                <a:latin typeface="Noto Sans"/>
              </a:rPr>
              <a:t>Q7 · 57.8% cite wastage of supplies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52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8_benef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175" y="2377440"/>
            <a:ext cx="2925344" cy="14862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9752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67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529BFF"/>
                </a:solidFill>
                <a:latin typeface="Noto Sans"/>
              </a:rPr>
              <a:t>Q8 · Most-valued benefits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87" y="2286000"/>
            <a:ext cx="3596640" cy="1669094"/>
          </a:xfrm>
          <a:prstGeom prst="roundRect">
            <a:avLst/>
          </a:prstGeom>
          <a:solidFill>
            <a:srgbClr val="FFFFFF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9_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927" y="2402678"/>
            <a:ext cx="3413760" cy="143573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168487" y="3955094"/>
            <a:ext cx="3596640" cy="329184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1639" y="4000814"/>
            <a:ext cx="34503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en-US" noProof="1" dirty="0" err="0">
                <a:solidFill>
                  <a:srgbClr val="43D5AE"/>
                </a:solidFill>
                <a:latin typeface="Noto Sans"/>
              </a:rPr>
              <a:t>Q9 · 89.1% would pilot (Yes + Maybe)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Source: MediMatch survey, n=64 · Q7 and Q9 are the abstract’s 57.8% and 89.1% figures, shown from the raw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05  /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How the redistribution engine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lang="en-US" noProof="1" dirty="0" err="0">
                <a:solidFill>
                  <a:srgbClr val="AEBACC"/>
                </a:solidFill>
                <a:latin typeface="Noto Sans"/>
              </a:rPr>
              <a:t>Every listing becomes a geocoded surplus offer or an urgent request, then flows through a transparent pipeline.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FF7744"/>
                </a:solidFill>
                <a:latin typeface="Noto Sans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Parse each listing into a
geocoded surplus or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981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755648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F6BE4C"/>
                </a:solidFill>
                <a:latin typeface="Noto Sans"/>
              </a:rPr>
              <a:t>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Score candidates urgent-first
on multiple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755648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43D5AE"/>
                </a:solidFill>
                <a:latin typeface="Noto Sans"/>
              </a:rPr>
              <a:t>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Resolve real road geometry
via OSRM, arc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1755648"/>
            <a:ext cx="2514600" cy="17373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07424" y="1755648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201168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lang="en-US" noProof="1" dirty="0" err="0">
                <a:solidFill>
                  <a:srgbClr val="529BFF"/>
                </a:solidFill>
                <a:latin typeface="Noto Sans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487168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confirms before
any real-world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lang="en-US" noProof="1" dirty="0" err="0">
                <a:solidFill>
                  <a:srgbClr val="F8F3E7"/>
                </a:solidFill>
                <a:latin typeface="Noto Sans"/>
              </a:rPr>
              <a:t>Ranking signals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863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8863" y="4206240"/>
            <a:ext cx="64008" cy="841248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031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Proximity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routed distance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6575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76575" y="4206240"/>
            <a:ext cx="64008" cy="841248"/>
          </a:xfrm>
          <a:prstGeom prst="rect">
            <a:avLst/>
          </a:prstGeom>
          <a:solidFill>
            <a:srgbClr val="FF5B66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7743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Urgency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7743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clinical priority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4287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4287" y="4206240"/>
            <a:ext cx="64008" cy="841248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5455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Product 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5455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category &amp; cold-chain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1999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1999" y="4206240"/>
            <a:ext cx="64008" cy="841248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3167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Quantity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3167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full or partial cover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9711" y="4206240"/>
            <a:ext cx="2103120" cy="841248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79711" y="4206240"/>
            <a:ext cx="64008" cy="841248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0879" y="4315968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lang="en-US" noProof="1" dirty="0" err="0">
                <a:solidFill>
                  <a:srgbClr val="F8F3E7"/>
                </a:solidFill>
                <a:latin typeface="Noto Sans"/>
              </a:rPr>
              <a:t>Verification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0879" y="4626864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lang="en-US" noProof="1" dirty="0" err="0">
                <a:solidFill>
                  <a:srgbClr val="AEBACC"/>
                </a:solidFill>
                <a:latin typeface="Noto Sans"/>
              </a:rPr>
              <a:t>trusted source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349240"/>
            <a:ext cx="11091672" cy="713232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522976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lang="en-US" noProof="1" dirty="0" err="0">
                <a:solidFill>
                  <a:srgbClr val="AEBACC"/>
                </a:solidFill>
                <a:latin typeface="Noto Sans"/>
              </a:rPr>
              <a:t>Beyond routing: a demand heatmap surfaces clusters, a one-year impact projection models the gain, and a live Copilot answers from current state — all shown next in the demo.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Explainable matching · plain-language situation briefs · human verification before any transfer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06  /  ARCHITECTURE AND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A production-minded spatial stack
with a human decision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React · TypeScript
MapLibre · three.js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816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1828800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Coordination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Node.js · Express
matching · auth ·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828800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Spatial +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PostgreSQL · PostGIS
OSRM · Nominatim · CARTO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lang="en-US" noProof="1" dirty="0" err="0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07424" y="1828800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lang="en-US" noProof="1" dirty="0" err="0">
                <a:solidFill>
                  <a:srgbClr val="F8F3E7"/>
                </a:solidFill>
                <a:latin typeface="Noto Sans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Curated fallback
optional Claude briefs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064240" cy="12801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8F3E7"/>
                </a:solidFill>
                <a:latin typeface="Noto Sans"/>
              </a:rPr>
              <a:t>Human verification is the final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No diagnosis · no autonomous transfers · synthetic demo inventory · explicit assumptions · coordinator sign-off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75504"/>
            <a:ext cx="10332720" cy="36576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Production data layer: PostgreSQL 15 + PostGIS 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07  / 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en-US" noProof="1" dirty="0" err="0">
                <a:solidFill>
                  <a:srgbClr val="F8F3E7"/>
                </a:solidFill>
                <a:latin typeface="Noto Sans"/>
              </a:rPr>
              <a:t>See it run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lang="en-US" noProof="1" dirty="0" err="0">
                <a:solidFill>
                  <a:srgbClr val="AEBACC"/>
                </a:solidFill>
                <a:latin typeface="Noto Sans"/>
              </a:rPr>
              <a:t>Switching to the running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92807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National command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03703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Detect, rank and route surplus to urgent need across Kenya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15768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734056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Demand heatmap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44951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Where shortfall concentrates, against hubs and corridors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57015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01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75303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Nairobi research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886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The 64-facility study area at street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98264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16552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Impact projection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72744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A transparent one-year model of the gain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39512"/>
            <a:ext cx="548640" cy="54864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1266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257800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lang="en-US" noProof="1" dirty="0" err="0">
                <a:solidFill>
                  <a:srgbClr val="F8F3E7"/>
                </a:solidFill>
                <a:latin typeface="Noto Sans"/>
              </a:rPr>
              <a:t>Copilot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56869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lang="en-US" noProof="1" dirty="0" err="0">
                <a:solidFill>
                  <a:srgbClr val="AEBACC"/>
                </a:solidFill>
                <a:latin typeface="Noto Sans"/>
              </a:rPr>
              <a:t>Live coordination questions, answered from current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Recommended demo uses curated local briefs and synthetic inventory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08  / 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7315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 lang="en-US" noProof="1" dirty="0" err="0">
                <a:solidFill>
                  <a:srgbClr val="F8F3E7"/>
                </a:solidFill>
                <a:latin typeface="Noto Sans"/>
              </a:rPr>
              <a:t>Location is not just a field.
</a:t>
            </a:r>
            <a:r>
              <a:rPr sz="3500" b="1" lang="en-US" noProof="1" dirty="0" err="0">
                <a:solidFill>
                  <a:srgbClr val="43D5AE"/>
                </a:solidFill>
                <a:latin typeface="Noto Sans"/>
              </a:rPr>
              <a:t>It is a coordination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697480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679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Evidence-based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352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64 healthcare professionals quantified the coordination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355848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Location-aware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5935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Real-time, road-routed matching of surplus to urgent need.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14216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9959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Explainable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2519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Transparent, multi-factor scoring — no black box.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72584"/>
            <a:ext cx="82296" cy="45720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542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lang="en-US" noProof="1" dirty="0" err="0">
                <a:solidFill>
                  <a:srgbClr val="F8F3E7"/>
                </a:solidFill>
                <a:latin typeface="Noto Sans"/>
              </a:rPr>
              <a:t>Human-governed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10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lang="en-US" noProof="1" dirty="0" err="0">
                <a:solidFill>
                  <a:srgbClr val="AEBACC"/>
                </a:solidFill>
                <a:latin typeface="Noto Sans"/>
              </a:rPr>
              <a:t>Coordinator verification before every transfer.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514600"/>
            <a:ext cx="4983480" cy="274320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9443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MEDIMATCH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118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lang="en-US" noProof="1" dirty="0" err="0">
                <a:solidFill>
                  <a:srgbClr val="F6BE4C"/>
                </a:solidFill>
                <a:latin typeface="Noto Sans"/>
              </a:rPr>
              <a:t>See surplus. Detect need.
Coordinate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lang="en-US" noProof="1" dirty="0" err="0">
                <a:solidFill>
                  <a:srgbClr val="AEBACC"/>
                </a:solidFill>
                <a:latin typeface="Noto Sans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Dr Lesnar Gitonga · USIU-Africa · Global Public Health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lang="en-US" noProof="1" dirty="0" err="0">
                <a:solidFill>
                  <a:srgbClr val="F6BE4C"/>
                </a:solidFill>
                <a:latin typeface="Noto Sans"/>
              </a:rPr>
              <a:t>09  / 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lang="en-US" noProof="1" dirty="0" err="0">
                <a:solidFill>
                  <a:srgbClr val="F8F3E7"/>
                </a:solidFill>
                <a:latin typeface="Noto Sans"/>
              </a:rPr>
              <a:t>References &amp;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Davis, F. D. (1989). Perceived usefulness, perceived ease of use, and user acceptance of information technology. MIS Quarterly, 13(3), 319–340.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HealthcareMEA. (2025). Supply chain challenges and the impact of wastage in East African healthcare.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Medical Supplies Authority (KEMSA). (2025). Supply chain performance and order-fill rates: Mid-year report 2025. Nairobi: KEMSA.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Ministry of Health. (2023). National health supply chain strategy and universal health coverage.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Kenya News Agency. (2025). Addressing stockouts: Inter-county redistribution measures.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Lee, H. L., Padmanabhan, V., &amp; Whang, S. (1997). Information distortion in a supply chain: The bullwhip effect. Management Science, 43(4), 546–558.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17320"/>
            <a:ext cx="5440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MedShare. (2024). Recovering surplus medical supplies: Global impact report.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Ministry of Health Kenya. (2020). Kenya National e-Health Policy 2016–2030. Nairobi: Ministry of Health.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Mugenda, O. M., &amp; Mugenda, A. G. (2003). Research methods: Quantitative and qualitative approaches. Nairobi: Acts Press.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Nation Africa. (2024). Global Fund audit reveals inconsistencies in Kenya’s stock management. Daily Nation.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NHS England. (2022). NHS supply chain redistribution programme: Lessons from the COVID-19 pandemic. London: NHS.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050">
                <a:solidFill>
                  <a:srgbClr val="AEBACC"/>
                </a:solidFill>
                <a:latin typeface="Noto Sans"/>
              </a:defRPr>
            </a:pPr>
            <a:r>
              <a:rPr lang="en-US" noProof="1" dirty="0" err="0"/>
              <a:t>Republic of Kenya. (2019). The Data Protection Act. Nairobi: Government Printer.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lang="en-US" noProof="1" dirty="0" err="0">
                <a:solidFill>
                  <a:srgbClr val="AEBACC"/>
                </a:solidFill>
                <a:latin typeface="Noto Sans"/>
              </a:rPr>
              <a:t>MEDIMATCH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lang="en-US" noProof="1" dirty="0" err="0">
                <a:solidFill>
                  <a:srgbClr val="AEBACC"/>
                </a:solidFill>
                <a:latin typeface="Noto Sans"/>
              </a:rPr>
              <a:t>Primary data: MediMatch Nairobi County field study (n=64 healthcare professionals, 80% response,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6B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MediMatch — Geospatial Intelligence for Medical-Supply Redistribution</dc:title>
  <dc:subject>Conference presentation</dc:subject>
  <dc:creator>Lesnar Gitonga</dc:creator>
  <cp:keywords>MediMatch, geospatial, PostGIS, public health, Kenya, medical supplies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