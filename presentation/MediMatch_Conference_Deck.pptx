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.png"/>
          <p:cNvPicPr>
            <a:picLocks noChangeAspect="1"/>
          </p:cNvPicPr>
          <p:nvPr/>
        </p:nvPicPr>
        <p:blipFill>
          <a:blip r:embed="rId2"/>
          <a:srcRect t="4999" b="49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0352" y="594360"/>
            <a:ext cx="7498079" cy="5212080"/>
          </a:xfrm>
          <a:prstGeom prst="round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9144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6BE4C"/>
                </a:solidFill>
                <a:latin typeface="Noto Sans"/>
              </a:rPr>
              <a:t>MEDIMATCH  ·  NATIONAL REDISTRIBUTION COMMAND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1353312"/>
            <a:ext cx="69951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8F3E7"/>
                </a:solidFill>
                <a:latin typeface="Noto Sans"/>
              </a:rPr>
              <a:t>See surplus.
Detect need.
</a:t>
            </a:r>
            <a:r>
              <a:rPr sz="3800" b="1">
                <a:solidFill>
                  <a:srgbClr val="43D5AE"/>
                </a:solidFill>
                <a:latin typeface="Noto Sans"/>
              </a:rPr>
              <a:t>Coordinate impact.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730752"/>
            <a:ext cx="6309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AEBACC"/>
                </a:solidFill>
                <a:latin typeface="Noto Sans"/>
              </a:rPr>
              <a:t>Leveraging geospatial intelligence
for equitable medical-supply redistribution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" y="4736592"/>
            <a:ext cx="5212080" cy="27432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4965192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3E7"/>
                </a:solidFill>
                <a:latin typeface="Noto Sans"/>
              </a:rPr>
              <a:t>Lesnar Gitonga  ·  USIU–Africa  ·  23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349240"/>
            <a:ext cx="6217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Conference demo · synthetic inventory · no patient records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01  /  THE COORDINATION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8F3E7"/>
                </a:solidFill>
                <a:latin typeface="Noto Sans"/>
              </a:rPr>
              <a:t>The problem is not only scarcity.
It is disconnected visibility.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48132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EBACC"/>
                </a:solidFill>
                <a:latin typeface="Noto Sans"/>
              </a:rPr>
              <a:t>Facilities can hold usable surplus while others face urgent shortfalls. MediMatch makes both sides visible in one operating picture.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7744"/>
                </a:solidFill>
                <a:latin typeface="Noto Sans"/>
              </a:rPr>
              <a:t>56.3%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face weekly or monthly stockouts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5264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9856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6BE4C"/>
                </a:solidFill>
                <a:latin typeface="Noto Sans"/>
              </a:rPr>
              <a:t>82.8%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rate manual methods ineffective or slow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0176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5B66"/>
                </a:solidFill>
                <a:latin typeface="Noto Sans"/>
              </a:rPr>
              <a:t>57.8%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report wastage of valid supplies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05088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43D5AE"/>
                </a:solidFill>
                <a:latin typeface="Noto Sans"/>
              </a:rPr>
              <a:t>89.1%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willing to pilot the system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" y="3401568"/>
            <a:ext cx="10972800" cy="205740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657600"/>
            <a:ext cx="4846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8F3E7"/>
                </a:solidFill>
                <a:latin typeface="Noto Sans"/>
              </a:rPr>
              <a:t>A supply gap becomes
a coordination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407408"/>
            <a:ext cx="4800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AEBACC"/>
                </a:solidFill>
                <a:latin typeface="Noto Sans"/>
              </a:rPr>
              <a:t>Which available source is close enough, sufficiently stocked, verified, product-compatible—and practical to move now?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3730752"/>
            <a:ext cx="36576" cy="1234440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675887"/>
            <a:ext cx="1508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6BE4C"/>
                </a:solidFill>
                <a:latin typeface="Noto Sans"/>
              </a:rPr>
              <a:t>57%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3776472"/>
            <a:ext cx="3246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EBACC"/>
                </a:solidFill>
                <a:latin typeface="Noto Sans"/>
              </a:rPr>
              <a:t>KEMSA national order-fill rate,
as of mid-2025 (per the abstract)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645152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The baseline is historical; the deck does not present it as the current 2026 rate.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Sources: MediMatch Nairobi County field study (n=64 healthcare professionals, 80% response, 2025); KEMSA order-fill rate 57%, mid-2025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02  /  THE FIELD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3E7"/>
                </a:solidFill>
                <a:latin typeface="Noto Sans"/>
              </a:rPr>
              <a:t>Survey results from 64 healthcare professionals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607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6BE4C"/>
                </a:solidFill>
                <a:latin typeface="Noto Sans"/>
              </a:rPr>
              <a:t>Nairobi County field study  ·  80% response rate  ·  unedited Google Forms 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440680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4_stocko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055" y="1508760"/>
            <a:ext cx="4174410" cy="17556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355848"/>
            <a:ext cx="5440680" cy="310896"/>
          </a:xfrm>
          <a:prstGeom prst="roundRect">
            <a:avLst/>
          </a:prstGeom>
          <a:solidFill>
            <a:srgbClr val="121D31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392424"/>
            <a:ext cx="52212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7744"/>
                </a:solidFill>
                <a:latin typeface="Noto Sans"/>
              </a:rPr>
              <a:t>56.3% face weekly or monthly stockouts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417320"/>
            <a:ext cx="5440680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6_effective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9873" y="1508760"/>
            <a:ext cx="3871637" cy="175564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45352" y="3355848"/>
            <a:ext cx="5440680" cy="310896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3392424"/>
            <a:ext cx="52212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6BE4C"/>
                </a:solidFill>
                <a:latin typeface="Noto Sans"/>
              </a:rPr>
              <a:t>82.8% rate current methods ineffective or slow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13632"/>
            <a:ext cx="5440680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7_challeng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8539" y="4005072"/>
            <a:ext cx="3689442" cy="175564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5852160"/>
            <a:ext cx="5440680" cy="310896"/>
          </a:xfrm>
          <a:prstGeom prst="roundRect">
            <a:avLst/>
          </a:prstGeom>
          <a:solidFill>
            <a:srgbClr val="121D31"/>
          </a:solidFill>
          <a:ln>
            <a:solidFill>
              <a:srgbClr val="FF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5888736"/>
            <a:ext cx="52212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5B66"/>
                </a:solidFill>
                <a:latin typeface="Noto Sans"/>
              </a:rPr>
              <a:t>57.8% cite wastage of valid supplies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3913632"/>
            <a:ext cx="5440680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9_pil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8487" y="4005072"/>
            <a:ext cx="4174410" cy="175564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245352" y="5852160"/>
            <a:ext cx="5440680" cy="310896"/>
          </a:xfrm>
          <a:prstGeom prst="roundRect">
            <a:avLst/>
          </a:prstGeom>
          <a:solidFill>
            <a:srgbClr val="121D31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5888736"/>
            <a:ext cx="52212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43D5AE"/>
                </a:solidFill>
                <a:latin typeface="Noto Sans"/>
              </a:rPr>
              <a:t>89.1% would pilot the system (Yes + Maybe)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Source: MediMatch survey, n=64 · the four headline figures published in the GPH2026 abstract, shown from the raw responses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03  /  RESPONDENT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3E7"/>
                </a:solidFill>
                <a:latin typeface="Noto Sans"/>
              </a:rPr>
              <a:t>Who we asked — and how facilities cope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607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6BE4C"/>
                </a:solidFill>
                <a:latin typeface="Noto Sans"/>
              </a:rPr>
              <a:t>Nairobi County field study  ·  64 respondents  ·  unedited Google Forms 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440680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3_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055" y="1508760"/>
            <a:ext cx="4174410" cy="17556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355848"/>
            <a:ext cx="5440680" cy="310896"/>
          </a:xfrm>
          <a:prstGeom prst="roundRect">
            <a:avLst/>
          </a:prstGeom>
          <a:solidFill>
            <a:srgbClr val="121D31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392424"/>
            <a:ext cx="52212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529BFF"/>
                </a:solidFill>
                <a:latin typeface="Noto Sans"/>
              </a:rPr>
              <a:t>Mostly clinical staff — nurses &amp; pharmacists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417320"/>
            <a:ext cx="5440680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2_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487" y="1508760"/>
            <a:ext cx="4174410" cy="175564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45352" y="3355848"/>
            <a:ext cx="5440680" cy="310896"/>
          </a:xfrm>
          <a:prstGeom prst="roundRect">
            <a:avLst/>
          </a:prstGeom>
          <a:solidFill>
            <a:srgbClr val="121D31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3392424"/>
            <a:ext cx="52212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43D5AE"/>
                </a:solidFill>
                <a:latin typeface="Noto Sans"/>
              </a:rPr>
              <a:t>A predominantly under-40, digitally-fluent workforce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13632"/>
            <a:ext cx="5440680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1_g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055" y="4005072"/>
            <a:ext cx="4174410" cy="175564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5852160"/>
            <a:ext cx="5440680" cy="310896"/>
          </a:xfrm>
          <a:prstGeom prst="roundRect">
            <a:avLst/>
          </a:prstGeom>
          <a:solidFill>
            <a:srgbClr val="121D31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5888736"/>
            <a:ext cx="52212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7744"/>
                </a:solidFill>
                <a:latin typeface="Noto Sans"/>
              </a:rPr>
              <a:t>Balanced gender, slight female majority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3913632"/>
            <a:ext cx="5440680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5_surplu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8487" y="4005072"/>
            <a:ext cx="4174410" cy="175564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245352" y="5852160"/>
            <a:ext cx="5440680" cy="310896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5888736"/>
            <a:ext cx="52212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6BE4C"/>
                </a:solidFill>
                <a:latin typeface="Noto Sans"/>
              </a:rPr>
              <a:t>Today: ad-hoc — informal redistribution, KEMSA returns, WhatsApp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Source: MediMatch Nairobi County field study · 64 healthcare professionals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04  /  NATIONAL COMMAND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8F3E7"/>
                </a:solidFill>
                <a:latin typeface="Noto Sans"/>
              </a:rPr>
              <a:t>From isolated reports to one national operating picture</a:t>
            </a:r>
          </a:p>
        </p:txBody>
      </p:sp>
      <p:pic>
        <p:nvPicPr>
          <p:cNvPr id="5" name="Picture 4" descr="demand-signal.png"/>
          <p:cNvPicPr>
            <a:picLocks noChangeAspect="1"/>
          </p:cNvPicPr>
          <p:nvPr/>
        </p:nvPicPr>
        <p:blipFill>
          <a:blip r:embed="rId2"/>
          <a:srcRect t="15004" b="15004"/>
          <a:stretch>
            <a:fillRect/>
          </a:stretch>
        </p:blipFill>
        <p:spPr>
          <a:xfrm>
            <a:off x="502920" y="1325880"/>
            <a:ext cx="11183112" cy="48920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1792" y="5276088"/>
            <a:ext cx="10927080" cy="713232"/>
          </a:xfrm>
          <a:prstGeom prst="round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477256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7744"/>
                </a:solidFill>
                <a:latin typeface="Noto Sans"/>
              </a:rPr>
              <a:t>DETECT</a:t>
            </a:r>
            <a:r>
              <a:rPr sz="1100" b="1">
                <a:solidFill>
                  <a:srgbClr val="AEBACC"/>
                </a:solidFill>
                <a:latin typeface="Noto Sans"/>
              </a:rPr>
              <a:t>  →  </a:t>
            </a:r>
            <a:r>
              <a:rPr sz="1100" b="1">
                <a:solidFill>
                  <a:srgbClr val="F6BE4C"/>
                </a:solidFill>
                <a:latin typeface="Noto Sans"/>
              </a:rPr>
              <a:t>RANK</a:t>
            </a:r>
            <a:r>
              <a:rPr sz="1100" b="1">
                <a:solidFill>
                  <a:srgbClr val="AEBACC"/>
                </a:solidFill>
                <a:latin typeface="Noto Sans"/>
              </a:rPr>
              <a:t>  →  </a:t>
            </a:r>
            <a:r>
              <a:rPr sz="1100" b="1">
                <a:solidFill>
                  <a:srgbClr val="43D5AE"/>
                </a:solidFill>
                <a:latin typeface="Noto Sans"/>
              </a:rPr>
              <a:t>ROUTE</a:t>
            </a:r>
            <a:r>
              <a:rPr sz="1100" b="1">
                <a:solidFill>
                  <a:srgbClr val="AEBACC"/>
                </a:solidFill>
                <a:latin typeface="Noto Sans"/>
              </a:rPr>
              <a:t>  →  </a:t>
            </a:r>
            <a:r>
              <a:rPr sz="1100" b="1">
                <a:solidFill>
                  <a:srgbClr val="F8F3E7"/>
                </a:solidFill>
                <a:latin typeface="Noto Sans"/>
              </a:rPr>
              <a:t>VERIFY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5440680"/>
            <a:ext cx="530352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Real Kenyan facility geocodes · road-routed flows · live operational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Current app: Savannah Command · MapLibre + CARTO + OSRM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05  /  GEOSPATIAL TRIAGE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8F3E7"/>
                </a:solidFill>
                <a:latin typeface="Noto Sans"/>
              </a:rPr>
              <a:t>See demand concentration before routing</a:t>
            </a:r>
          </a:p>
        </p:txBody>
      </p:sp>
      <p:pic>
        <p:nvPicPr>
          <p:cNvPr id="5" name="Picture 4" descr="heatmap.png"/>
          <p:cNvPicPr>
            <a:picLocks noChangeAspect="1"/>
          </p:cNvPicPr>
          <p:nvPr/>
        </p:nvPicPr>
        <p:blipFill>
          <a:blip r:embed="rId2"/>
          <a:srcRect l="3378" r="3378"/>
          <a:stretch>
            <a:fillRect/>
          </a:stretch>
        </p:blipFill>
        <p:spPr>
          <a:xfrm>
            <a:off x="4114800" y="1325880"/>
            <a:ext cx="7571231" cy="5074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30352" y="1417320"/>
            <a:ext cx="3246120" cy="4681728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19072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8F3E7"/>
                </a:solidFill>
                <a:latin typeface="Noto Sans"/>
              </a:rPr>
              <a:t>What geography adds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86000"/>
            <a:ext cx="2761488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300">
                <a:solidFill>
                  <a:srgbClr val="AEBACC"/>
                </a:solidFill>
                <a:latin typeface="Noto Sans"/>
              </a:defRPr>
            </a:pPr>
            <a:r>
              <a:t>•  Reveal where shortfall clusters—not just where the loudest request originated.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300">
                <a:solidFill>
                  <a:srgbClr val="AEBACC"/>
                </a:solidFill>
                <a:latin typeface="Noto Sans"/>
              </a:defRPr>
            </a:pPr>
            <a:r>
              <a:t>•  Compare demand against available hubs and connected road corridors.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300">
                <a:solidFill>
                  <a:srgbClr val="AEBACC"/>
                </a:solidFill>
                <a:latin typeface="Noto Sans"/>
              </a:defRPr>
            </a:pPr>
            <a:r>
              <a:t>•  Use distance as one signal alongside urgency, product fit and verification.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300">
                <a:solidFill>
                  <a:srgbClr val="AEBACC"/>
                </a:solidFill>
                <a:latin typeface="Noto Sans"/>
              </a:defRPr>
            </a:pPr>
            <a:r>
              <a:t>•  Move from ‘nearest’ to ‘best feasible match’.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440680"/>
            <a:ext cx="267004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6BE4C"/>
                </a:solidFill>
                <a:latin typeface="Noto Sans"/>
              </a:rPr>
              <a:t>Geography supports triage; it does not authorize a transfer.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Demand heatmap shown from the live build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06  /  RESEARCH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8F3E7"/>
                </a:solidFill>
                <a:latin typeface="Noto Sans"/>
              </a:rPr>
              <a:t>Nairobi: the national model at street scale</a:t>
            </a:r>
          </a:p>
        </p:txBody>
      </p:sp>
      <p:pic>
        <p:nvPicPr>
          <p:cNvPr id="5" name="Picture 4" descr="nairobi-research.png"/>
          <p:cNvPicPr>
            <a:picLocks noChangeAspect="1"/>
          </p:cNvPicPr>
          <p:nvPr/>
        </p:nvPicPr>
        <p:blipFill>
          <a:blip r:embed="rId2"/>
          <a:srcRect t="13696" b="13696"/>
          <a:stretch>
            <a:fillRect/>
          </a:stretch>
        </p:blipFill>
        <p:spPr>
          <a:xfrm>
            <a:off x="502920" y="1371600"/>
            <a:ext cx="11183112" cy="5074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" y="5687568"/>
            <a:ext cx="10789920" cy="530352"/>
          </a:xfrm>
          <a:prstGeom prst="round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824728"/>
            <a:ext cx="10241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8F3E7"/>
                </a:solidFill>
                <a:latin typeface="Noto Sans"/>
              </a:rPr>
              <a:t>50 facilities  ·  43 in shortfall  ·  43 transfers  ·  2,236 units moved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Nairobi County research view · demonstration inventory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07  /  EXPLAINABLE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8F3E7"/>
                </a:solidFill>
                <a:latin typeface="Noto Sans"/>
              </a:rPr>
              <a:t>The system shows why a source was selected</a:t>
            </a:r>
          </a:p>
        </p:txBody>
      </p:sp>
      <p:pic>
        <p:nvPicPr>
          <p:cNvPr id="5" name="Picture 4" descr="selected-route.png"/>
          <p:cNvPicPr>
            <a:picLocks noChangeAspect="1"/>
          </p:cNvPicPr>
          <p:nvPr/>
        </p:nvPicPr>
        <p:blipFill>
          <a:blip r:embed="rId2"/>
          <a:srcRect l="5310" r="5310"/>
          <a:stretch>
            <a:fillRect/>
          </a:stretch>
        </p:blipFill>
        <p:spPr>
          <a:xfrm>
            <a:off x="4297680" y="1307592"/>
            <a:ext cx="7388352" cy="5166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30352" y="1417320"/>
            <a:ext cx="3401568" cy="46634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19072"/>
            <a:ext cx="2834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8F3E7"/>
                </a:solidFill>
                <a:latin typeface="Noto Sans"/>
              </a:rPr>
              <a:t>Decision signals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67712"/>
            <a:ext cx="82296" cy="329184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249424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3E7"/>
                </a:solidFill>
                <a:latin typeface="Noto Sans"/>
              </a:rPr>
              <a:t>Proximity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2249424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direct and routed distance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52928"/>
            <a:ext cx="82296" cy="329184"/>
          </a:xfrm>
          <a:prstGeom prst="rect">
            <a:avLst/>
          </a:prstGeom>
          <a:solidFill>
            <a:srgbClr val="FF5B66"/>
          </a:solidFill>
          <a:ln>
            <a:solidFill>
              <a:srgbClr val="FF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834640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3E7"/>
                </a:solidFill>
                <a:latin typeface="Noto Sans"/>
              </a:rPr>
              <a:t>Urgency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83464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clinical supply priority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438144"/>
            <a:ext cx="82296" cy="329184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3419856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3E7"/>
                </a:solidFill>
                <a:latin typeface="Noto Sans"/>
              </a:rPr>
              <a:t>Product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419856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category and cold-chain needs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023360"/>
            <a:ext cx="82296" cy="329184"/>
          </a:xfrm>
          <a:prstGeom prst="rect">
            <a:avLst/>
          </a:prstGeom>
          <a:solidFill>
            <a:srgbClr val="529BFF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05072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3E7"/>
                </a:solidFill>
                <a:latin typeface="Noto Sans"/>
              </a:rPr>
              <a:t>Quantity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00507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full or partial coverage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608576"/>
            <a:ext cx="82296" cy="329184"/>
          </a:xfrm>
          <a:prstGeom prst="rect">
            <a:avLst/>
          </a:prstGeom>
          <a:solidFill>
            <a:srgbClr val="FF7744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590288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3E7"/>
                </a:solidFill>
                <a:latin typeface="Noto Sans"/>
              </a:rPr>
              <a:t>Verification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59028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trusted source and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376672"/>
            <a:ext cx="2834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6BE4C"/>
                </a:solidFill>
                <a:latin typeface="Noto Sans"/>
              </a:rPr>
              <a:t>Curated situation briefs explain the route in plain operational language.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Briefs use a deterministic fallback for demo reliability; Claude is optional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08  /  IMPACT PROJECTION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8F3E7"/>
                </a:solidFill>
                <a:latin typeface="Noto Sans"/>
              </a:rPr>
              <a:t>What the current throughput could unlock over one year</a:t>
            </a:r>
          </a:p>
        </p:txBody>
      </p:sp>
      <p:pic>
        <p:nvPicPr>
          <p:cNvPr id="5" name="Picture 4" descr="impact-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182" y="1261872"/>
            <a:ext cx="8368588" cy="523036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989320"/>
            <a:ext cx="10908792" cy="347472"/>
          </a:xfrm>
          <a:prstGeom prst="round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80760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6BE4C"/>
                </a:solidFill>
                <a:latin typeface="Noto Sans"/>
              </a:rPr>
              <a:t>MODEL — NOT A GUARANTEE. Weekly cycles, 42% near-expiry recovery, coverage saturates as facilities onboard.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Projection baseline: KEMSA 57% order-fill rate (mid-2025) + MediMatch field study (n=64)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09  /  LIVE COORDINATION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8F3E7"/>
                </a:solidFill>
                <a:latin typeface="Noto Sans"/>
              </a:rPr>
              <a:t>Coordination intelligence, grounded in live state</a:t>
            </a:r>
          </a:p>
        </p:txBody>
      </p:sp>
      <p:pic>
        <p:nvPicPr>
          <p:cNvPr id="5" name="Picture 4" descr="copilot.png"/>
          <p:cNvPicPr>
            <a:picLocks noChangeAspect="1"/>
          </p:cNvPicPr>
          <p:nvPr/>
        </p:nvPicPr>
        <p:blipFill>
          <a:blip r:embed="rId2"/>
          <a:srcRect l="7295" r="7295"/>
          <a:stretch>
            <a:fillRect/>
          </a:stretch>
        </p:blipFill>
        <p:spPr>
          <a:xfrm>
            <a:off x="4663440" y="1307592"/>
            <a:ext cx="7022592" cy="51389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30352" y="1417320"/>
            <a:ext cx="3767328" cy="4681728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19072"/>
            <a:ext cx="3154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8F3E7"/>
                </a:solidFill>
                <a:latin typeface="Noto Sans"/>
              </a:rPr>
              <a:t>What the Copilot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500">
                <a:solidFill>
                  <a:srgbClr val="F8F3E7"/>
                </a:solidFill>
                <a:latin typeface="Noto Sans"/>
              </a:defRPr>
            </a:pPr>
            <a:r>
              <a:t>•  Facilities awaiting urgent approval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500">
                <a:solidFill>
                  <a:srgbClr val="F8F3E7"/>
                </a:solidFill>
                <a:latin typeface="Noto Sans"/>
              </a:defRPr>
            </a:pPr>
            <a:r>
              <a:t>•  Transfers currently in transit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500">
                <a:solidFill>
                  <a:srgbClr val="F8F3E7"/>
                </a:solidFill>
                <a:latin typeface="Noto Sans"/>
              </a:defRPr>
            </a:pPr>
            <a:r>
              <a:t>•  Shortfalls located by county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500">
                <a:solidFill>
                  <a:srgbClr val="F8F3E7"/>
                </a:solidFill>
                <a:latin typeface="Noto Sans"/>
              </a:defRPr>
            </a:pPr>
            <a:r>
              <a:t>•  Hubs holding redistributable surplus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500">
                <a:solidFill>
                  <a:srgbClr val="F8F3E7"/>
                </a:solidFill>
                <a:latin typeface="Noto Sans"/>
              </a:defRPr>
            </a:pPr>
            <a:r>
              <a:t>•  A concise national situation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109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EBACC"/>
                </a:solidFill>
                <a:latin typeface="Noto Sans"/>
              </a:rPr>
              <a:t>Answers are drawn from the live coordination state, not a general model. The demonstration runs without an API key; an Anthropic key enables Claude-written briefs.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Copilot is advisory; coordinator verification remains mandatory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10  /  ARCHITECTURE AND SAFEGUARDS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8F3E7"/>
                </a:solidFill>
                <a:latin typeface="Noto Sans"/>
              </a:rPr>
              <a:t>A production-minded spatial stack
with a human decision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514600" cy="73152"/>
          </a:xfrm>
          <a:prstGeom prst="rect">
            <a:avLst/>
          </a:prstGeom>
          <a:solidFill>
            <a:srgbClr val="529BFF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8F3E7"/>
                </a:solidFill>
                <a:latin typeface="Noto Sans"/>
              </a:rPr>
              <a:t>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AEBACC"/>
                </a:solidFill>
                <a:latin typeface="Noto Sans"/>
              </a:rPr>
              <a:t>React · TypeScript
MapLibre · three.js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9816" y="25146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1568" y="1828800"/>
            <a:ext cx="2514600" cy="73152"/>
          </a:xfrm>
          <a:prstGeom prst="rect">
            <a:avLst/>
          </a:prstGeom>
          <a:solidFill>
            <a:srgbClr val="FF7744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2736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8F3E7"/>
                </a:solidFill>
                <a:latin typeface="Noto Sans"/>
              </a:rPr>
              <a:t>Coordination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2736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AEBACC"/>
                </a:solidFill>
                <a:latin typeface="Noto Sans"/>
              </a:rPr>
              <a:t>Node.js · Express
matching · auth · messages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52744" y="25146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4496" y="1828800"/>
            <a:ext cx="2514600" cy="73152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8F3E7"/>
                </a:solidFill>
                <a:latin typeface="Noto Sans"/>
              </a:rPr>
              <a:t>Spatial + routing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AEBACC"/>
                </a:solidFill>
                <a:latin typeface="Noto Sans"/>
              </a:rPr>
              <a:t>PostgreSQL · PostGIS
OSRM · Nominatim · CARTO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5672" y="25146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7424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07424" y="1828800"/>
            <a:ext cx="2514600" cy="73152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08592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8F3E7"/>
                </a:solidFill>
                <a:latin typeface="Noto Sans"/>
              </a:rPr>
              <a:t>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AEBACC"/>
                </a:solidFill>
                <a:latin typeface="Noto Sans"/>
              </a:rPr>
              <a:t>Curated fallback
optional Claude briefs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51960"/>
            <a:ext cx="11064240" cy="128016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480560"/>
            <a:ext cx="10515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8F3E7"/>
                </a:solidFill>
                <a:latin typeface="Noto Sans"/>
              </a:rPr>
              <a:t>Human verification is the final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AEBACC"/>
                </a:solidFill>
                <a:latin typeface="Noto Sans"/>
              </a:rPr>
              <a:t>No diagnosis · no autonomous transfers · synthetic demo inventory · explicit assumptions · coordinator sign-off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175504"/>
            <a:ext cx="10332720" cy="36576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Production data layer: PostgreSQL 15 + PostGIS 3 · demo mode: in-memory mock DB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11  / 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73152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00" b="1">
                <a:solidFill>
                  <a:srgbClr val="F8F3E7"/>
                </a:solidFill>
                <a:latin typeface="Noto Sans"/>
              </a:rPr>
              <a:t>Location is not just a field.
</a:t>
            </a:r>
            <a:r>
              <a:rPr sz="3500" b="1">
                <a:solidFill>
                  <a:srgbClr val="43D5AE"/>
                </a:solidFill>
                <a:latin typeface="Noto Sans"/>
              </a:rPr>
              <a:t>It is a coordination advantage.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2697480"/>
            <a:ext cx="82296" cy="457200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6791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3E7"/>
                </a:solidFill>
                <a:latin typeface="Noto Sans"/>
              </a:rPr>
              <a:t>Evidence-based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93522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EBACC"/>
                </a:solidFill>
                <a:latin typeface="Noto Sans"/>
              </a:rPr>
              <a:t>64 healthcare professionals quantified the coordination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3355848"/>
            <a:ext cx="82296" cy="457200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3E7"/>
                </a:solidFill>
                <a:latin typeface="Noto Sans"/>
              </a:rPr>
              <a:t>Location-aware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5935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EBACC"/>
                </a:solidFill>
                <a:latin typeface="Noto Sans"/>
              </a:rPr>
              <a:t>Real-time, road-routed matching of surplus to urgent need.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4014216"/>
            <a:ext cx="82296" cy="457200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9959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3E7"/>
                </a:solidFill>
                <a:latin typeface="Noto Sans"/>
              </a:rPr>
              <a:t>Explainable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2519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EBACC"/>
                </a:solidFill>
                <a:latin typeface="Noto Sans"/>
              </a:rPr>
              <a:t>Transparent, multi-factor scoring — no black box.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4672584"/>
            <a:ext cx="82296" cy="457200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65429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3E7"/>
                </a:solidFill>
                <a:latin typeface="Noto Sans"/>
              </a:rPr>
              <a:t>Human-governed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9103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EBACC"/>
                </a:solidFill>
                <a:latin typeface="Noto Sans"/>
              </a:rPr>
              <a:t>Coordinator verification before every transfer.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2514600"/>
            <a:ext cx="4983480" cy="274320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94436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8F3E7"/>
                </a:solidFill>
                <a:latin typeface="Noto Sans"/>
              </a:rPr>
              <a:t>MEDIMATCH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6118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6BE4C"/>
                </a:solidFill>
                <a:latin typeface="Noto Sans"/>
              </a:rPr>
              <a:t>See surplus. Detect need.
Coordinate impact.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6177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AEBACC"/>
                </a:solidFill>
                <a:latin typeface="Noto Sans"/>
              </a:rPr>
              <a:t>Thank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Live build: main@d7be7d4 · /home/lesnar/publish-stage/MediMatch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MediMatch — Geospatial Intelligence for Medical-Supply Redistribution</dc:title>
  <dc:subject>Conference presentation</dc:subject>
  <dc:creator>Lesnar Gitonga</dc:creator>
  <cp:keywords>MediMatch, geospatial, PostGIS, public health, Kenya, medical supplies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